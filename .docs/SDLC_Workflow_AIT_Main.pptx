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37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9144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3600" b="1" i="0" dirty="0">
                <a:solidFill>
                  <a:srgbClr val="FFFFFF"/>
                </a:solidFill>
              </a:rPr>
              <a:t>AIT</a:t>
            </a:r>
            <a:r>
              <a:rPr sz="3600" b="1" i="0" dirty="0">
                <a:solidFill>
                  <a:srgbClr val="FFFFFF"/>
                </a:solidFill>
              </a:rPr>
              <a:t> SDLC Workflow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30428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B4D8"/>
                </a:solidFill>
              </a:rPr>
              <a:t>How we plan, design, develop, validate, deploy and operate using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788920"/>
            <a:ext cx="1691640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78892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0" y="2788920"/>
            <a:ext cx="1691640" cy="438912"/>
          </a:xfrm>
          <a:prstGeom prst="rect">
            <a:avLst/>
          </a:prstGeom>
          <a:solidFill>
            <a:srgbClr val="F24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278892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Design &amp; Arch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69080" y="2788920"/>
            <a:ext cx="1691640" cy="438912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069080" y="278892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Develop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852159" y="2788920"/>
            <a:ext cx="1691640" cy="438912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52159" y="278892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Validate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35240" y="2788920"/>
            <a:ext cx="1691640" cy="43891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635240" y="278892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418320" y="2788920"/>
            <a:ext cx="1691640" cy="438912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18320" y="2788920"/>
            <a:ext cx="1691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Operate &amp; Monitor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364992"/>
            <a:ext cx="1042416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" y="347472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0C8E0"/>
                </a:solidFill>
              </a:rPr>
              <a:t>Reference Project:  AIT-Main  (AI-Transformation-Procurement)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977639"/>
            <a:ext cx="8686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90AAC0"/>
                </a:solidFill>
              </a:rPr>
              <a:t>Traceability from business use case to production deployment,
backed by design, architecture, peer-reviewed code, validated tests, and real-time observability.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892040"/>
            <a:ext cx="1783080" cy="6400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320040" y="4892040"/>
            <a:ext cx="45720" cy="64008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57200" y="4956048"/>
            <a:ext cx="1600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D8FF"/>
                </a:solidFill>
              </a:rPr>
              <a:t>Understand before you build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48840" y="4892040"/>
            <a:ext cx="1783080" cy="6400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148840" y="4892040"/>
            <a:ext cx="45720" cy="640080"/>
          </a:xfrm>
          <a:prstGeom prst="rect">
            <a:avLst/>
          </a:prstGeom>
          <a:solidFill>
            <a:srgbClr val="F24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286000" y="4956048"/>
            <a:ext cx="1600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D8FF"/>
                </a:solidFill>
              </a:rPr>
              <a:t>Design before you code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4892040"/>
            <a:ext cx="1783080" cy="6400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3977639" y="4892040"/>
            <a:ext cx="45720" cy="640080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14800" y="4956048"/>
            <a:ext cx="1600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D8FF"/>
                </a:solidFill>
              </a:rPr>
              <a:t>Review before you merge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806440" y="4892040"/>
            <a:ext cx="1783080" cy="6400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806440" y="4892040"/>
            <a:ext cx="45720" cy="640080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943600" y="4956048"/>
            <a:ext cx="1600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D8FF"/>
                </a:solidFill>
              </a:rPr>
              <a:t>Test before you deploy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635240" y="4892040"/>
            <a:ext cx="1783080" cy="6400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7635240" y="4892040"/>
            <a:ext cx="45720" cy="64008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7772400" y="4956048"/>
            <a:ext cx="1600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D8FF"/>
                </a:solidFill>
              </a:rPr>
              <a:t>Approve before you deploy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464040" y="4892040"/>
            <a:ext cx="1783080" cy="64008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9464040" y="4892040"/>
            <a:ext cx="45720" cy="640080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601200" y="4956048"/>
            <a:ext cx="1600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0D8FF"/>
                </a:solidFill>
              </a:rPr>
              <a:t>Operate after you ship</a:t>
            </a:r>
          </a:p>
        </p:txBody>
      </p:sp>
      <p:pic>
        <p:nvPicPr>
          <p:cNvPr id="40" name="Picture 39">
            <a:extLst>
              <a:ext uri="{FF2B5EF4-FFF2-40B4-BE49-F238E27FC236}">
                <a16:creationId xmlns:a16="http://schemas.microsoft.com/office/drawing/2014/main" id="{B0462565-205A-2B0D-33D0-31661B99D19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4080" y="177565"/>
            <a:ext cx="2162441" cy="12145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8D4"/>
                </a:solidFill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The Six-Phase SDLC Pipeline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48872" cy="36576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1280160"/>
            <a:ext cx="1691640" cy="4572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9184" y="1280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01 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PRD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37360"/>
            <a:ext cx="169164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79" y="1874519"/>
            <a:ext cx="1417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D1B2A"/>
                </a:solidFill>
              </a:rPr>
              <a:t>  *  Business use case defined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Product design &amp; personas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PRD generated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Stakeholder sign-off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4645152"/>
            <a:ext cx="1691640" cy="566928"/>
          </a:xfrm>
          <a:prstGeom prst="rect">
            <a:avLst/>
          </a:prstGeom>
          <a:solidFill>
            <a:srgbClr val="2BB0B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" y="4663440"/>
            <a:ext cx="1581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Output: PRD
approved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93391" y="2606040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</a:rPr>
              <a:t>-&gt;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194560" y="1280160"/>
            <a:ext cx="1691640" cy="457200"/>
          </a:xfrm>
          <a:prstGeom prst="rect">
            <a:avLst/>
          </a:prstGeom>
          <a:solidFill>
            <a:srgbClr val="F24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249424" y="1280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02 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39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Figma+Jira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194560" y="1737360"/>
            <a:ext cx="169164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331720" y="1874519"/>
            <a:ext cx="1417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D1B2A"/>
                </a:solidFill>
              </a:rPr>
              <a:t>  *  Wireframes &amp; architecture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Solution design &amp; API contracts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User story breakdown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Backlog refinement &amp; sprints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194560" y="4645152"/>
            <a:ext cx="1691640" cy="566928"/>
          </a:xfrm>
          <a:prstGeom prst="rect">
            <a:avLst/>
          </a:prstGeom>
          <a:solidFill>
            <a:srgbClr val="FF8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249424" y="4663440"/>
            <a:ext cx="1581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Output: Sprint
backlog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13632" y="2606040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</a:rPr>
              <a:t>-&gt;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0" y="1280160"/>
            <a:ext cx="1691640" cy="457200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169663" y="1280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03  DEVELOP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1208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1737360"/>
            <a:ext cx="169164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51960" y="1874519"/>
            <a:ext cx="1417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D1B2A"/>
                </a:solidFill>
              </a:rPr>
              <a:t>  *  Feature branch per story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Dev + unit/integration tests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PR with Jira &amp; Figma links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Peer review + CI green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4645152"/>
            <a:ext cx="1691640" cy="566928"/>
          </a:xfrm>
          <a:prstGeom prst="rect">
            <a:avLst/>
          </a:prstGeom>
          <a:solidFill>
            <a:srgbClr val="A371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4169663" y="4663440"/>
            <a:ext cx="1581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Output: Merged
to main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833872" y="2606040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</a:rPr>
              <a:t>-&gt;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1280160"/>
            <a:ext cx="1691640" cy="457200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89904" y="1280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04  VALIDATE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CI Tests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035040" y="1737360"/>
            <a:ext cx="169164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172200" y="1874519"/>
            <a:ext cx="1417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D1B2A"/>
                </a:solidFill>
              </a:rPr>
              <a:t>  *  Unit &amp; integration suites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E2E &amp; performance tests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Security &amp; vulnerability scan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Coverage &amp; quality gates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035040" y="4645152"/>
            <a:ext cx="1691640" cy="566928"/>
          </a:xfrm>
          <a:prstGeom prst="rect">
            <a:avLst/>
          </a:prstGeom>
          <a:solidFill>
            <a:srgbClr val="F5B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089904" y="4663440"/>
            <a:ext cx="1581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Output: All tests
passing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54112" y="2606040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</a:rPr>
              <a:t>-&gt;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955280" y="1280160"/>
            <a:ext cx="1691640" cy="45720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8010144" y="1280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05  DEPLOY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GH Actions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955280" y="1737360"/>
            <a:ext cx="169164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8092440" y="1874519"/>
            <a:ext cx="14173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dirty="0">
                <a:solidFill>
                  <a:srgbClr val="0D1B2A"/>
                </a:solidFill>
              </a:rPr>
              <a:t>  *  CI/CD pipeline triggered</a:t>
            </a:r>
          </a:p>
          <a:p>
            <a:pPr algn="l"/>
            <a:r>
              <a:rPr sz="1000" dirty="0">
                <a:solidFill>
                  <a:srgbClr val="0D1B2A"/>
                </a:solidFill>
              </a:rPr>
              <a:t>  *  Build &amp; test stages</a:t>
            </a:r>
          </a:p>
          <a:p>
            <a:pPr algn="l"/>
            <a:r>
              <a:rPr sz="1000" dirty="0">
                <a:solidFill>
                  <a:srgbClr val="0D1B2A"/>
                </a:solidFill>
              </a:rPr>
              <a:t>  *  Staging deploy (auto)</a:t>
            </a:r>
          </a:p>
          <a:p>
            <a:pPr algn="l"/>
            <a:r>
              <a:rPr sz="1000" dirty="0">
                <a:solidFill>
                  <a:srgbClr val="0D1B2A"/>
                </a:solidFill>
              </a:rPr>
              <a:t>  *  </a:t>
            </a:r>
            <a:r>
              <a:rPr lang="en-US" sz="1000" dirty="0">
                <a:solidFill>
                  <a:srgbClr val="0D1B2A"/>
                </a:solidFill>
              </a:rPr>
              <a:t>Risk based </a:t>
            </a:r>
            <a:r>
              <a:rPr sz="1000" dirty="0">
                <a:solidFill>
                  <a:srgbClr val="0D1B2A"/>
                </a:solidFill>
              </a:rPr>
              <a:t>approval -&gt; Prod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80" y="4645152"/>
            <a:ext cx="1691640" cy="566928"/>
          </a:xfrm>
          <a:prstGeom prst="rect">
            <a:avLst/>
          </a:prstGeom>
          <a:solidFill>
            <a:srgbClr val="56D3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010144" y="4663440"/>
            <a:ext cx="1581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Output: Live in
production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74352" y="2606040"/>
            <a:ext cx="16459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8D4"/>
                </a:solidFill>
              </a:rPr>
              <a:t>-&gt;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875520" y="1280160"/>
            <a:ext cx="1691640" cy="457200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9930384" y="12801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06  OPERATE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128016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1" i="0">
                <a:solidFill>
                  <a:srgbClr val="FFFFFF"/>
                </a:solidFill>
              </a:rPr>
              <a:t>Sentry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875520" y="1737360"/>
            <a:ext cx="1691640" cy="2834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10012680" y="1874519"/>
            <a:ext cx="1417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>
                <a:solidFill>
                  <a:srgbClr val="0D1B2A"/>
                </a:solidFill>
              </a:rPr>
              <a:t>  *  Frontend error tracking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Backend errors &amp; traces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Logs &amp; performance metrics</a:t>
            </a:r>
          </a:p>
          <a:p>
            <a:pPr algn="l"/>
            <a:r>
              <a:rPr sz="1000">
                <a:solidFill>
                  <a:srgbClr val="0D1B2A"/>
                </a:solidFill>
              </a:rPr>
              <a:t>  *  Alerts, SLA &amp; improvement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75520" y="4645152"/>
            <a:ext cx="1691640" cy="566928"/>
          </a:xfrm>
          <a:prstGeom prst="rect">
            <a:avLst/>
          </a:prstGeom>
          <a:solidFill>
            <a:srgbClr val="6C5F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9930384" y="4663440"/>
            <a:ext cx="1581912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D1B2A"/>
                </a:solidFill>
              </a:rPr>
              <a:t>Output: Issues
captured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37160" y="5349240"/>
            <a:ext cx="11841480" cy="118872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" y="5394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Gold Standard Rule: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20040" y="5760720"/>
            <a:ext cx="1152144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0D8FF"/>
                </a:solidFill>
              </a:rPr>
              <a:t>Every feature traces from a PRD use case through design &amp; architecture, Jira stories, is developed on a feature branch, validated through automated test suites, deployed via GitHub Actions with approval gates, and operated &amp; monitored in Sentry from day one.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A87"/>
                </a:solidFill>
              </a:rPr>
              <a:t>PHASE 01  |  PLAN &amp; DEFINE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Planning  —  Business Use Case, Product Design &amp; PRD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48872" cy="3657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11338560" cy="43891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BB0BF"/>
                </a:solidFill>
              </a:rPr>
              <a:t>  AIT-Main Example:  PO Validation use case identified  |  Product brief drafted  |  PRD generated before any Jira ticket or Figma frame created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492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007A87"/>
                </a:solidFill>
              </a:rPr>
              <a:t>How We Approach It</a:t>
            </a:r>
          </a:p>
          <a:p>
            <a:pPr algn="l"/>
            <a:r>
              <a:rPr sz="1250">
                <a:solidFill>
                  <a:srgbClr val="0D1B2A"/>
                </a:solidFill>
              </a:rPr>
              <a:t>  *  Identify the business problem or opportunity to be solved</a:t>
            </a:r>
          </a:p>
          <a:p>
            <a:pPr algn="l"/>
            <a:r>
              <a:rPr sz="1250">
                <a:solidFill>
                  <a:srgbClr val="0D1B2A"/>
                </a:solidFill>
              </a:rPr>
              <a:t>  *  Define stakeholders, impacted users, and success metrics</a:t>
            </a:r>
          </a:p>
          <a:p>
            <a:pPr algn="l"/>
            <a:r>
              <a:rPr sz="1250">
                <a:solidFill>
                  <a:srgbClr val="0D1B2A"/>
                </a:solidFill>
              </a:rPr>
              <a:t>  *  Product design: user personas, journey maps, feature prioritisation</a:t>
            </a:r>
          </a:p>
          <a:p>
            <a:pPr algn="l"/>
            <a:r>
              <a:rPr sz="1250">
                <a:solidFill>
                  <a:srgbClr val="0D1B2A"/>
                </a:solidFill>
              </a:rPr>
              <a:t>  *  Generate PRD: functional + non-functional requirements</a:t>
            </a:r>
          </a:p>
          <a:p>
            <a:pPr algn="l"/>
            <a:r>
              <a:rPr sz="1250">
                <a:solidFill>
                  <a:srgbClr val="0D1B2A"/>
                </a:solidFill>
              </a:rPr>
              <a:t>  *  PRD reviewed and signed off by stakeholders before design begins</a:t>
            </a:r>
          </a:p>
          <a:p>
            <a:pPr algn="l"/>
            <a:r>
              <a:rPr sz="1250">
                <a:solidFill>
                  <a:srgbClr val="0D1B2A"/>
                </a:solidFill>
              </a:rPr>
              <a:t>  *  PRD approved  -&gt;  shared with design team as brief; epic names drafted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56692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7A87"/>
                </a:solidFill>
              </a:rPr>
              <a:t>PRD Structure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Problem statement &amp; business value (why this, why now)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In-scope deliverables confirmed; out-of-scope explicitly documented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Acceptance criteria per feature — measurable and testable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Technical constraints, integrations, and dependencies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3291840"/>
            <a:ext cx="566928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3429000"/>
            <a:ext cx="53949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007A87"/>
                </a:solidFill>
              </a:rPr>
              <a:t>Risks &amp; Constraints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Compliance &amp; regulatory risks — legal, privacy, data residency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Business constraints — budget ceiling, delivery timeline, team capacity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In-scope vs out-of-scope boundaries agreed and documented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Technical risks — integration unknowns, third-party dependencies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Mitigation plan for each identified risk agreed before design begins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5212080"/>
            <a:ext cx="5669280" cy="12801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394960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2BB0BF"/>
                </a:solidFill>
              </a:rPr>
              <a:t>Non-Functional Requirements &amp; Definition of Done</a:t>
            </a:r>
          </a:p>
          <a:p>
            <a:pPr algn="l"/>
            <a:r>
              <a:rPr sz="1100">
                <a:solidFill>
                  <a:srgbClr val="C0F0FF"/>
                </a:solidFill>
              </a:rPr>
              <a:t>  *  Performance: response time SLAs, throughput, concurrency targets</a:t>
            </a:r>
          </a:p>
          <a:p>
            <a:pPr algn="l"/>
            <a:r>
              <a:rPr sz="1100">
                <a:solidFill>
                  <a:srgbClr val="C0F0FF"/>
                </a:solidFill>
              </a:rPr>
              <a:t>  *  Security: auth model, encryption, access control requirements</a:t>
            </a:r>
          </a:p>
          <a:p>
            <a:pPr algn="l"/>
            <a:r>
              <a:rPr sz="1100">
                <a:solidFill>
                  <a:srgbClr val="C0F0FF"/>
                </a:solidFill>
              </a:rPr>
              <a:t>  *  Availability: uptime SLA, RTO and RPO objectives</a:t>
            </a:r>
          </a:p>
          <a:p>
            <a:pPr algn="l"/>
            <a:r>
              <a:rPr sz="1100">
                <a:solidFill>
                  <a:srgbClr val="C0F0FF"/>
                </a:solidFill>
              </a:rPr>
              <a:t>  *  Definition of Done: AC met, tests green, design reviewed, staging deployed, no P1 issues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F24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F24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24E1E"/>
                </a:solidFill>
              </a:rPr>
              <a:t>PHASE 02  |  DESIGN, ARCHITECT &amp; PLAN SPRINTS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F24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Design and Architect  —  Figma, Solution Architecture &amp; Jira backlog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48872" cy="36576"/>
          </a:xfrm>
          <a:prstGeom prst="rect">
            <a:avLst/>
          </a:prstGeom>
          <a:solidFill>
            <a:srgbClr val="F24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11338560" cy="43891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A080"/>
                </a:solidFill>
              </a:rPr>
              <a:t>  AIT-Main Example:  Validation Dashboard wireframed in Figma  |  Solution architecture defined  |  Epic 'PO Inbound Validation' broken into stories, pointed &amp; pulled into sprint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49240" cy="2240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5074920" cy="12157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1" dirty="0">
                <a:solidFill>
                  <a:srgbClr val="F24E1E"/>
                </a:solidFill>
              </a:rPr>
              <a:t>1. </a:t>
            </a:r>
            <a:r>
              <a:rPr sz="1300" b="1" dirty="0">
                <a:solidFill>
                  <a:srgbClr val="F24E1E"/>
                </a:solidFill>
              </a:rPr>
              <a:t>Figma  —  UI Design</a:t>
            </a:r>
          </a:p>
          <a:p>
            <a:pPr algn="l"/>
            <a:r>
              <a:rPr sz="1200" dirty="0">
                <a:solidFill>
                  <a:srgbClr val="0D1B2A"/>
                </a:solidFill>
              </a:rPr>
              <a:t>  *  All new UI features start with a Figma wireframe — no guesswork in dev</a:t>
            </a:r>
          </a:p>
          <a:p>
            <a:pPr algn="l"/>
            <a:r>
              <a:rPr sz="1200" dirty="0">
                <a:solidFill>
                  <a:srgbClr val="0D1B2A"/>
                </a:solidFill>
              </a:rPr>
              <a:t>  *  Component library maintained: buttons, modals, forms, data tables</a:t>
            </a:r>
          </a:p>
          <a:p>
            <a:pPr algn="l"/>
            <a:r>
              <a:rPr sz="1200" dirty="0">
                <a:solidFill>
                  <a:srgbClr val="0D1B2A"/>
                </a:solidFill>
              </a:rPr>
              <a:t>  *  Designs reviewed and approved by stakeholders before dev sprint</a:t>
            </a:r>
          </a:p>
          <a:p>
            <a:pPr algn="l"/>
            <a:r>
              <a:rPr sz="1200" dirty="0">
                <a:solidFill>
                  <a:srgbClr val="0D1B2A"/>
                </a:solidFill>
              </a:rPr>
              <a:t>  *  Prototype links attached to every Jira story for dev context</a:t>
            </a:r>
          </a:p>
          <a:p>
            <a:pPr algn="l"/>
            <a:r>
              <a:rPr sz="1200" dirty="0">
                <a:solidFill>
                  <a:srgbClr val="0D1B2A"/>
                </a:solidFill>
              </a:rPr>
              <a:t>  *  Post-build: dev implementation reviewed against Figma spec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160520"/>
            <a:ext cx="5349240" cy="233172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297680"/>
            <a:ext cx="5074920" cy="13465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50" b="1" dirty="0">
                <a:solidFill>
                  <a:srgbClr val="FFC0A0"/>
                </a:solidFill>
              </a:rPr>
              <a:t>2. </a:t>
            </a:r>
            <a:r>
              <a:rPr sz="1250" b="1" dirty="0">
                <a:solidFill>
                  <a:srgbClr val="FFC0A0"/>
                </a:solidFill>
              </a:rPr>
              <a:t>Solution Architecture</a:t>
            </a:r>
          </a:p>
          <a:p>
            <a:pPr algn="l"/>
            <a:r>
              <a:rPr sz="1150" dirty="0">
                <a:solidFill>
                  <a:srgbClr val="FFE8D8"/>
                </a:solidFill>
              </a:rPr>
              <a:t>  *  API contracts — endpoint definitions, request/response schemas</a:t>
            </a:r>
          </a:p>
          <a:p>
            <a:pPr algn="l"/>
            <a:r>
              <a:rPr sz="1150" dirty="0">
                <a:solidFill>
                  <a:srgbClr val="FFE8D8"/>
                </a:solidFill>
              </a:rPr>
              <a:t>  *  Data schemas — DB model changes, migrations, data ownership</a:t>
            </a:r>
          </a:p>
          <a:p>
            <a:pPr algn="l"/>
            <a:r>
              <a:rPr sz="1150" dirty="0">
                <a:solidFill>
                  <a:srgbClr val="FFE8D8"/>
                </a:solidFill>
              </a:rPr>
              <a:t>  *  Integration points — third-party services, event flows, queues</a:t>
            </a:r>
          </a:p>
          <a:p>
            <a:pPr algn="l"/>
            <a:r>
              <a:rPr sz="1150" dirty="0">
                <a:solidFill>
                  <a:srgbClr val="FFE8D8"/>
                </a:solidFill>
              </a:rPr>
              <a:t>  *  Architecture changes — new services, infra, or dependency updates</a:t>
            </a:r>
          </a:p>
          <a:p>
            <a:pPr algn="l"/>
            <a:r>
              <a:rPr sz="1150" dirty="0">
                <a:solidFill>
                  <a:srgbClr val="FFE8D8"/>
                </a:solidFill>
              </a:rPr>
              <a:t>  *  Performance &amp; security — SLAs, auth model, data access controls</a:t>
            </a:r>
          </a:p>
          <a:p>
            <a:pPr algn="l"/>
            <a:r>
              <a:rPr sz="1150" dirty="0">
                <a:solidFill>
                  <a:srgbClr val="FFE8D8"/>
                </a:solidFill>
              </a:rPr>
              <a:t>  *  Privacy — PII handling, data retention, consent requirements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5669280" cy="1920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965960"/>
            <a:ext cx="5394960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50" b="1" dirty="0">
                <a:solidFill>
                  <a:srgbClr val="0052CC"/>
                </a:solidFill>
              </a:rPr>
              <a:t>3. </a:t>
            </a:r>
            <a:r>
              <a:rPr sz="1250" b="1" dirty="0">
                <a:solidFill>
                  <a:srgbClr val="0052CC"/>
                </a:solidFill>
              </a:rPr>
              <a:t>Jira  —  Epic &amp; Story Creation</a:t>
            </a:r>
          </a:p>
          <a:p>
            <a:pPr algn="l"/>
            <a:r>
              <a:rPr sz="1150" dirty="0">
                <a:solidFill>
                  <a:srgbClr val="0D1B2A"/>
                </a:solidFill>
              </a:rPr>
              <a:t>  *  Epics generated from PRD features (e.g. 'PO Inbound Validation')</a:t>
            </a:r>
          </a:p>
          <a:p>
            <a:pPr algn="l"/>
            <a:r>
              <a:rPr sz="1150" dirty="0">
                <a:solidFill>
                  <a:srgbClr val="0D1B2A"/>
                </a:solidFill>
              </a:rPr>
              <a:t>  *  Stories broken down per screen/flow with clear acceptance criteria</a:t>
            </a:r>
          </a:p>
          <a:p>
            <a:pPr algn="l"/>
            <a:r>
              <a:rPr sz="1150" dirty="0">
                <a:solidFill>
                  <a:srgbClr val="0D1B2A"/>
                </a:solidFill>
              </a:rPr>
              <a:t>  *  Sub-tasks created for frontend / backend / tests per story</a:t>
            </a:r>
          </a:p>
          <a:p>
            <a:pPr algn="l"/>
            <a:r>
              <a:rPr sz="1150" dirty="0">
                <a:solidFill>
                  <a:srgbClr val="0D1B2A"/>
                </a:solidFill>
              </a:rPr>
              <a:t>  *  Story points estimated during backlog refinement sessions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840480"/>
            <a:ext cx="5669280" cy="1554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3977640"/>
            <a:ext cx="5394960" cy="9925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50" b="1" dirty="0">
                <a:solidFill>
                  <a:srgbClr val="0052CC"/>
                </a:solidFill>
              </a:rPr>
              <a:t>4. </a:t>
            </a:r>
            <a:r>
              <a:rPr sz="1250" b="1" dirty="0">
                <a:solidFill>
                  <a:srgbClr val="0052CC"/>
                </a:solidFill>
              </a:rPr>
              <a:t>Planning Outputs  —  Jira Structure</a:t>
            </a:r>
          </a:p>
          <a:p>
            <a:pPr algn="l"/>
            <a:r>
              <a:rPr sz="1150" dirty="0">
                <a:solidFill>
                  <a:srgbClr val="0D1B2A"/>
                </a:solidFill>
              </a:rPr>
              <a:t>  *  Stories structured with: context, dev notes, Figma link, arch ref</a:t>
            </a:r>
          </a:p>
          <a:p>
            <a:pPr algn="l"/>
            <a:r>
              <a:rPr sz="1150" dirty="0">
                <a:solidFill>
                  <a:srgbClr val="0D1B2A"/>
                </a:solidFill>
              </a:rPr>
              <a:t>  *  Jira hierarchy: Epic -&gt; Story -&gt; Sub-task (FE / BE / Test / Docs)</a:t>
            </a:r>
          </a:p>
          <a:p>
            <a:pPr algn="l"/>
            <a:r>
              <a:rPr sz="1150" dirty="0">
                <a:solidFill>
                  <a:srgbClr val="0D1B2A"/>
                </a:solidFill>
              </a:rPr>
              <a:t>  *  Definition of Ready: AC clear, design approved, arch reviewed, pointed</a:t>
            </a:r>
          </a:p>
          <a:p>
            <a:pPr algn="l"/>
            <a:r>
              <a:rPr sz="1150" dirty="0">
                <a:solidFill>
                  <a:srgbClr val="0D1B2A"/>
                </a:solidFill>
              </a:rPr>
              <a:t>  *  Sprint board reflects architecture and dependency order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5486400"/>
            <a:ext cx="5669280" cy="10058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5623560"/>
            <a:ext cx="539496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dirty="0">
                <a:solidFill>
                  <a:srgbClr val="FF825C"/>
                </a:solidFill>
              </a:rPr>
              <a:t>5. </a:t>
            </a:r>
            <a:r>
              <a:rPr sz="1200" b="1" dirty="0">
                <a:solidFill>
                  <a:srgbClr val="FF825C"/>
                </a:solidFill>
              </a:rPr>
              <a:t>Sprint Planning</a:t>
            </a:r>
          </a:p>
          <a:p>
            <a:pPr algn="l"/>
            <a:r>
              <a:rPr sz="1100" dirty="0">
                <a:solidFill>
                  <a:srgbClr val="FFD0C0"/>
                </a:solidFill>
              </a:rPr>
              <a:t>  *  Backlog refined: stories </a:t>
            </a:r>
            <a:r>
              <a:rPr sz="1100" dirty="0" err="1">
                <a:solidFill>
                  <a:srgbClr val="FFD0C0"/>
                </a:solidFill>
              </a:rPr>
              <a:t>prioritised</a:t>
            </a:r>
            <a:r>
              <a:rPr sz="1100" dirty="0">
                <a:solidFill>
                  <a:srgbClr val="FFD0C0"/>
                </a:solidFill>
              </a:rPr>
              <a:t>, dependencies mapped</a:t>
            </a:r>
          </a:p>
          <a:p>
            <a:pPr algn="l"/>
            <a:r>
              <a:rPr sz="1100" dirty="0">
                <a:solidFill>
                  <a:srgbClr val="FFD0C0"/>
                </a:solidFill>
              </a:rPr>
              <a:t>  *  Sprint goal defined — design approved + pointed = Ready for Dev</a:t>
            </a:r>
          </a:p>
          <a:p>
            <a:pPr algn="l"/>
            <a:r>
              <a:rPr sz="1100" dirty="0">
                <a:solidFill>
                  <a:srgbClr val="FFD0C0"/>
                </a:solidFill>
              </a:rPr>
              <a:t>  *  Jira board reflects sprint commitment from day one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E40C9"/>
                </a:solidFill>
              </a:rPr>
              <a:t>PHASE 03  |  DEVELOP, REVIEW &amp; MERGE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GitHub  —  Branching Strategy, Testing &amp; PR Workflow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48872" cy="36576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11338560" cy="43891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371F7"/>
                </a:solidFill>
              </a:rPr>
              <a:t>  AIT-Main Branches:  feat/po-inbound-validation  |  fix/itglue-sync  |  Each user story = one feature branch  —  zero direct commits to main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49240" cy="237744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50749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A371F7"/>
                </a:solidFill>
              </a:rPr>
              <a:t>Development Controls</a:t>
            </a:r>
          </a:p>
          <a:p>
            <a:pPr algn="l"/>
            <a:r>
              <a:rPr sz="1200">
                <a:solidFill>
                  <a:srgbClr val="D0C0FF"/>
                </a:solidFill>
              </a:rPr>
              <a:t>  *  One branch per user story, defect or small change</a:t>
            </a:r>
          </a:p>
          <a:p>
            <a:pPr algn="l"/>
            <a:r>
              <a:rPr sz="1200">
                <a:solidFill>
                  <a:srgbClr val="D0C0FF"/>
                </a:solidFill>
              </a:rPr>
              <a:t>  *  Use feat/, fix/, chore/ and hotfix/ prefixes consistently</a:t>
            </a:r>
          </a:p>
          <a:p>
            <a:pPr algn="l"/>
            <a:r>
              <a:rPr sz="1200">
                <a:solidFill>
                  <a:srgbClr val="D0C0FF"/>
                </a:solidFill>
              </a:rPr>
              <a:t>  *  PR must include: Jira link, design link and test evidence</a:t>
            </a:r>
          </a:p>
          <a:p>
            <a:pPr algn="l"/>
            <a:r>
              <a:rPr sz="1200">
                <a:solidFill>
                  <a:srgbClr val="D0C0FF"/>
                </a:solidFill>
              </a:rPr>
              <a:t>  *  CI runs lint, unit tests, integration tests, dependency scan and static analysis</a:t>
            </a:r>
          </a:p>
          <a:p>
            <a:pPr algn="l"/>
            <a:r>
              <a:rPr sz="1200">
                <a:solidFill>
                  <a:srgbClr val="D0C0FF"/>
                </a:solidFill>
              </a:rPr>
              <a:t>  *  Merge only when CI is green, review is complete and all comments are resolved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297680"/>
            <a:ext cx="53492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4434840"/>
            <a:ext cx="50749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E40C9"/>
                </a:solidFill>
              </a:rPr>
              <a:t>User Story Development Cycle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Each user story drives one feature branch — full traceability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Branch naming: feat/, fix/, chore/, hotfix/ + Jira ticket ID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Commit messages follow Conventional Commits standard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Unit + integration tests written before PR is raised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Jira story auto-transitions to Done on merge to main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1828800"/>
            <a:ext cx="5669280" cy="1600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1965960"/>
            <a:ext cx="539496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E40C9"/>
                </a:solidFill>
              </a:rPr>
              <a:t>Branch Taxonomy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main — production-ready at all times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feat/* — new capabilities (linked to Jira Epics)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fix/*  — bug fixes (linked to Jira Bugs)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chore/* — maintenance, deps, config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hotfix/* — urgent production patches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3520440"/>
            <a:ext cx="5669280" cy="1508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63640" y="3657600"/>
            <a:ext cx="5394960" cy="1234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6E40C9"/>
                </a:solidFill>
              </a:rPr>
              <a:t>PR &amp; Quality Gates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At least 1 peer review required — no self-approvals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CI: lint -&gt; unit tests -&gt; integration tests -&gt; security scan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Merge only: CI green + reviewer approved + no open comments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CODEOWNERS routes reviews to the right people</a:t>
            </a:r>
          </a:p>
          <a:p>
            <a:pPr algn="l"/>
            <a:r>
              <a:rPr sz="1200">
                <a:solidFill>
                  <a:srgbClr val="0D1B2A"/>
                </a:solidFill>
              </a:rPr>
              <a:t>  *  Branch protection: require PR, require CI, no force-push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5120640"/>
            <a:ext cx="5669280" cy="13716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63640" y="525780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>
                <a:solidFill>
                  <a:srgbClr val="A371F7"/>
                </a:solidFill>
              </a:rPr>
              <a:t>Risk-Based PR Approvals</a:t>
            </a:r>
          </a:p>
          <a:p>
            <a:pPr algn="l"/>
            <a:r>
              <a:rPr sz="1150">
                <a:solidFill>
                  <a:srgbClr val="D0C0FF"/>
                </a:solidFill>
              </a:rPr>
              <a:t>  *  Low risk (config, docs, minor UI)  -&gt;  Automated CI approval</a:t>
            </a:r>
          </a:p>
          <a:p>
            <a:pPr algn="l"/>
            <a:r>
              <a:rPr sz="1150">
                <a:solidFill>
                  <a:srgbClr val="D0C0FF"/>
                </a:solidFill>
              </a:rPr>
              <a:t>  *  Medium risk (feature, API change)  -&gt;  QA engineer approval required</a:t>
            </a:r>
          </a:p>
          <a:p>
            <a:pPr algn="l"/>
            <a:r>
              <a:rPr sz="1150">
                <a:solidFill>
                  <a:srgbClr val="D0C0FF"/>
                </a:solidFill>
              </a:rPr>
              <a:t>  *  High risk (platform, security, data, infra)  -&gt;  Platform, Security or Manager approval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D97B00"/>
                </a:solidFill>
              </a:rPr>
              <a:t>PHASE 04  |  VALIDATE &amp;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Validate  —  Testing Strategy, Quality Gates &amp; Coverage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48872" cy="36576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11338560" cy="43891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5B040"/>
                </a:solidFill>
              </a:rPr>
              <a:t>  AIT-Main:  Full test suite runs on every PR  |  Coverage gates enforced in CI  |  Security scans block merge on high/critical CVEs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534924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" y="1965960"/>
            <a:ext cx="5074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D97B00"/>
                </a:solidFill>
              </a:rPr>
              <a:t>Testing Strategy</a:t>
            </a:r>
          </a:p>
          <a:p>
            <a:pPr algn="l"/>
            <a:r>
              <a:rPr sz="1250">
                <a:solidFill>
                  <a:srgbClr val="0D1B2A"/>
                </a:solidFill>
              </a:rPr>
              <a:t>  *  Unit tests — cover individual functions, components, and edge cases</a:t>
            </a:r>
          </a:p>
          <a:p>
            <a:pPr algn="l"/>
            <a:r>
              <a:rPr sz="1250">
                <a:solidFill>
                  <a:srgbClr val="0D1B2A"/>
                </a:solidFill>
              </a:rPr>
              <a:t>  *  Integration tests — verify service interactions, API contracts, DB queries</a:t>
            </a:r>
          </a:p>
          <a:p>
            <a:pPr algn="l"/>
            <a:r>
              <a:rPr sz="1250">
                <a:solidFill>
                  <a:srgbClr val="0D1B2A"/>
                </a:solidFill>
              </a:rPr>
              <a:t>  *  End-to-end tests — validate complete user journeys against staging</a:t>
            </a:r>
          </a:p>
          <a:p>
            <a:pPr algn="l"/>
            <a:r>
              <a:rPr sz="1250">
                <a:solidFill>
                  <a:srgbClr val="0D1B2A"/>
                </a:solidFill>
              </a:rPr>
              <a:t>  *  Performance tests — load testing, p95 response time thresholds</a:t>
            </a:r>
          </a:p>
          <a:p>
            <a:pPr algn="l"/>
            <a:r>
              <a:rPr sz="1250">
                <a:solidFill>
                  <a:srgbClr val="0D1B2A"/>
                </a:solidFill>
              </a:rPr>
              <a:t>  *  Security scans — SAST, dependency CVE checks, secrets detection</a:t>
            </a:r>
          </a:p>
          <a:p>
            <a:pPr algn="l"/>
            <a:r>
              <a:rPr sz="1250">
                <a:solidFill>
                  <a:srgbClr val="0D1B2A"/>
                </a:solidFill>
              </a:rPr>
              <a:t>  *  Test evidence required: results attached or linked before PR approval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26480" y="1828800"/>
            <a:ext cx="5669280" cy="2377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263640" y="1965960"/>
            <a:ext cx="5394960" cy="12618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 dirty="0">
                <a:solidFill>
                  <a:srgbClr val="D97B00"/>
                </a:solidFill>
              </a:rPr>
              <a:t>Quality Gates</a:t>
            </a:r>
          </a:p>
          <a:p>
            <a:pPr algn="l"/>
            <a:r>
              <a:rPr sz="1250" dirty="0">
                <a:solidFill>
                  <a:srgbClr val="0D1B2A"/>
                </a:solidFill>
              </a:rPr>
              <a:t>  *  Coverage threshold: minimum 80% line coverage gate enforced in CI</a:t>
            </a:r>
          </a:p>
          <a:p>
            <a:pPr algn="l"/>
            <a:r>
              <a:rPr sz="1250" dirty="0">
                <a:solidFill>
                  <a:srgbClr val="0D1B2A"/>
                </a:solidFill>
              </a:rPr>
              <a:t>  *  All tests must pass — zero tolerance for skipped critical tests</a:t>
            </a:r>
          </a:p>
          <a:p>
            <a:pPr algn="l"/>
            <a:r>
              <a:rPr sz="1250" dirty="0">
                <a:solidFill>
                  <a:srgbClr val="0D1B2A"/>
                </a:solidFill>
              </a:rPr>
              <a:t>  *  Security scan: no high or critical CVEs before merge</a:t>
            </a:r>
          </a:p>
          <a:p>
            <a:pPr algn="l"/>
            <a:r>
              <a:rPr sz="1250" dirty="0">
                <a:solidFill>
                  <a:srgbClr val="0D1B2A"/>
                </a:solidFill>
              </a:rPr>
              <a:t>  *  Performance regression: flag any &gt; 20% latency degradation</a:t>
            </a:r>
          </a:p>
          <a:p>
            <a:pPr algn="l"/>
            <a:r>
              <a:rPr sz="1250" dirty="0">
                <a:solidFill>
                  <a:srgbClr val="0D1B2A"/>
                </a:solidFill>
              </a:rPr>
              <a:t>  *  Test report published as CI art</a:t>
            </a:r>
            <a:r>
              <a:rPr lang="en-US" sz="1250" dirty="0">
                <a:solidFill>
                  <a:srgbClr val="0D1B2A"/>
                </a:solidFill>
              </a:rPr>
              <a:t>i</a:t>
            </a:r>
            <a:r>
              <a:rPr sz="1250" dirty="0">
                <a:solidFill>
                  <a:srgbClr val="0D1B2A"/>
                </a:solidFill>
              </a:rPr>
              <a:t>fact for audit trail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6480" y="4297680"/>
            <a:ext cx="5669280" cy="219456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434840"/>
            <a:ext cx="539496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F5B040"/>
                </a:solidFill>
              </a:rPr>
              <a:t>Test Environments</a:t>
            </a:r>
          </a:p>
          <a:p>
            <a:pPr algn="l"/>
            <a:r>
              <a:rPr sz="1250">
                <a:solidFill>
                  <a:srgbClr val="FFF0D0"/>
                </a:solidFill>
              </a:rPr>
              <a:t>  *  Local: unit + integration tests run before PR is raised</a:t>
            </a:r>
          </a:p>
          <a:p>
            <a:pPr algn="l"/>
            <a:r>
              <a:rPr sz="1250">
                <a:solidFill>
                  <a:srgbClr val="FFF0D0"/>
                </a:solidFill>
              </a:rPr>
              <a:t>  *  CI (on PR): full test suite + security scan + coverage report</a:t>
            </a:r>
          </a:p>
          <a:p>
            <a:pPr algn="l"/>
            <a:r>
              <a:rPr sz="1250">
                <a:solidFill>
                  <a:srgbClr val="FFF0D0"/>
                </a:solidFill>
              </a:rPr>
              <a:t>  *  Staging: E2E and smoke tests run automatically post-deploy</a:t>
            </a:r>
          </a:p>
          <a:p>
            <a:pPr algn="l"/>
            <a:r>
              <a:rPr sz="1250">
                <a:solidFill>
                  <a:srgbClr val="FFF0D0"/>
                </a:solidFill>
              </a:rPr>
              <a:t>  *  Production: synthetic monitors verify critical flows post-release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A44E"/>
                </a:solidFill>
              </a:rPr>
              <a:t>PHASE 05  |  DEPLOY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Deployment  —  GitHub Actions CI/CD with Approval Gates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48872" cy="36576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11338560" cy="43891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6D364"/>
                </a:solidFill>
              </a:rPr>
              <a:t>  AIT-Main:  Every main-branch merge builds automatically  |  Validated release candidates move through staging checks before production approval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721608" cy="402336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182880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Pipeline stages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31136"/>
            <a:ext cx="3721608" cy="4261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68296"/>
            <a:ext cx="344728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0D1B2A"/>
                </a:solidFill>
              </a:rPr>
              <a:t>  *  Build and package the release from a protected main branch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Deploy automatically to staging or pre-production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Run smoke tests and verify migrations, config and telemetry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Promote to production only from the validated artifact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Keep deployment logs for audit and incident review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828800"/>
            <a:ext cx="3721608" cy="402336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Release controls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5112" y="2231136"/>
            <a:ext cx="3721608" cy="4261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368296"/>
            <a:ext cx="344728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dirty="0">
                <a:solidFill>
                  <a:srgbClr val="0D1B2A"/>
                </a:solidFill>
              </a:rPr>
              <a:t>  *  Use feature flags, canary or phased rollout where suitable</a:t>
            </a:r>
          </a:p>
          <a:p>
            <a:pPr algn="l"/>
            <a:r>
              <a:rPr sz="1150" dirty="0">
                <a:solidFill>
                  <a:srgbClr val="0D1B2A"/>
                </a:solidFill>
              </a:rPr>
              <a:t>  *  Publish release notes and known-risk summary</a:t>
            </a:r>
          </a:p>
          <a:p>
            <a:pPr algn="l"/>
            <a:r>
              <a:rPr sz="1150" dirty="0">
                <a:solidFill>
                  <a:srgbClr val="0D1B2A"/>
                </a:solidFill>
              </a:rPr>
              <a:t>  *  Confirm rollback trigger, owner and execution path before go-live</a:t>
            </a:r>
          </a:p>
          <a:p>
            <a:pPr algn="l"/>
            <a:r>
              <a:rPr sz="1150" dirty="0">
                <a:solidFill>
                  <a:srgbClr val="0D1B2A"/>
                </a:solidFill>
              </a:rPr>
              <a:t>  *  Ensure secrets and environment rules are managed outside code</a:t>
            </a:r>
          </a:p>
          <a:p>
            <a:pPr algn="l"/>
            <a:r>
              <a:rPr sz="1150" dirty="0">
                <a:solidFill>
                  <a:srgbClr val="0D1B2A"/>
                </a:solidFill>
              </a:rPr>
              <a:t>  *  Add post-deploy smoke checks to the standard path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304" y="1828800"/>
            <a:ext cx="3721608" cy="402336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2" y="182880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Approvals should be risk-based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7304" y="2231136"/>
            <a:ext cx="3721608" cy="4261104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4464" y="2368296"/>
            <a:ext cx="3447288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dirty="0">
                <a:solidFill>
                  <a:srgbClr val="C8FFD0"/>
                </a:solidFill>
              </a:rPr>
              <a:t>  *  Low-risk: engineering owner + automated checks may be enough</a:t>
            </a:r>
          </a:p>
          <a:p>
            <a:pPr algn="l"/>
            <a:r>
              <a:rPr sz="1150" dirty="0">
                <a:solidFill>
                  <a:srgbClr val="C8FFD0"/>
                </a:solidFill>
              </a:rPr>
              <a:t>  *  Medium-risk: engineering + product / QA confirmation</a:t>
            </a:r>
          </a:p>
          <a:p>
            <a:pPr algn="l"/>
            <a:r>
              <a:rPr sz="1150" dirty="0">
                <a:solidFill>
                  <a:srgbClr val="C8FFD0"/>
                </a:solidFill>
              </a:rPr>
              <a:t>  *  High-risk: include platform, security or change-review roles as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62D59"/>
                </a:solidFill>
              </a:rPr>
              <a:t>PHASE 06  |  OPERATE, MONITOR AND IMPROVE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02920" y="457200"/>
            <a:ext cx="1152144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 dirty="0">
                <a:solidFill>
                  <a:srgbClr val="0D1B2A"/>
                </a:solidFill>
              </a:rPr>
              <a:t>Operate, Monitor and Improve  —  Sentry Observability &amp; Continuous Improvement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143000"/>
            <a:ext cx="11548872" cy="36576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1261872"/>
            <a:ext cx="11338560" cy="438912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1261872"/>
            <a:ext cx="113385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C5FC7"/>
                </a:solidFill>
              </a:rPr>
              <a:t>  Monitoring should not end the story: production signals become backlog input for the next planning cycle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1828800"/>
            <a:ext cx="3721608" cy="402336"/>
          </a:xfrm>
          <a:prstGeom prst="rect">
            <a:avLst/>
          </a:prstGeom>
          <a:solidFill>
            <a:srgbClr val="00A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8" y="182880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Observe the system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231136"/>
            <a:ext cx="3721608" cy="4261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2368296"/>
            <a:ext cx="344728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0D1B2A"/>
                </a:solidFill>
              </a:rPr>
              <a:t>  *  Collect errors, logs, metrics and traces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Separate environments and track release health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Keep dashboards for latency, throughput, uptime and business KPIs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Use alerting that maps to service ownership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Preserve evidence for incident analysis and audit needs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5112" y="1828800"/>
            <a:ext cx="3721608" cy="402336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34840" y="182880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Respond and learn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5112" y="2231136"/>
            <a:ext cx="3721608" cy="426110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462272" y="2368296"/>
            <a:ext cx="3447288" cy="3986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>
                <a:solidFill>
                  <a:srgbClr val="0D1B2A"/>
                </a:solidFill>
              </a:rPr>
              <a:t>  *  Define severity, on-call ownership and response targets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Use runbooks, triage and incident review procedures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Track what was acknowledged, fixed or regressed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Feed root causes into preventive work, not only bug tickets</a:t>
            </a:r>
          </a:p>
          <a:p>
            <a:pPr algn="l"/>
            <a:r>
              <a:rPr sz="1150">
                <a:solidFill>
                  <a:srgbClr val="0D1B2A"/>
                </a:solidFill>
              </a:rPr>
              <a:t>  *  Confirm whether release controls need updating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47304" y="1828800"/>
            <a:ext cx="3721608" cy="402336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57032" y="1828800"/>
            <a:ext cx="3611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Turn signals into backlog work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47304" y="2231136"/>
            <a:ext cx="3721608" cy="42611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284464" y="2368296"/>
            <a:ext cx="3447288" cy="11541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dirty="0"/>
              <a:t>  *  Reprioritize based on production evidence</a:t>
            </a:r>
          </a:p>
          <a:p>
            <a:pPr algn="l"/>
            <a:r>
              <a:rPr sz="1150" dirty="0"/>
              <a:t>  *  Create stories for reliability, performance and usability findings</a:t>
            </a:r>
          </a:p>
          <a:p>
            <a:pPr algn="l"/>
            <a:r>
              <a:rPr sz="1150" dirty="0"/>
              <a:t>  *  Revisit assumptions made in PRD and architecture</a:t>
            </a:r>
          </a:p>
          <a:p>
            <a:pPr algn="l"/>
            <a:r>
              <a:rPr sz="1150" dirty="0"/>
              <a:t>  *  Close the SDLC loop by carrying learnings back into Plan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AIT-MAIN  |  END-TO-END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feat/po-inbound-validation  —  Full 6-Phase SDLC Walkthrough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4887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137160" y="1261872"/>
            <a:ext cx="1737360" cy="43891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7160" y="1261872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261872"/>
            <a:ext cx="548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PRD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" y="1700784"/>
            <a:ext cx="1737360" cy="3749039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7160" y="1700784"/>
            <a:ext cx="54864" cy="3749039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1751" y="1792224"/>
            <a:ext cx="15179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E8FF"/>
                </a:solidFill>
              </a:rPr>
              <a:t>Use case: 'PO Inbound
Validation' identified.
PRD written: schema rules,
error notifications, audit
trail. Stakeholder sign-off
obtained.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1951" y="3337560"/>
            <a:ext cx="137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057400" y="1261872"/>
            <a:ext cx="1737360" cy="438912"/>
          </a:xfrm>
          <a:prstGeom prst="rect">
            <a:avLst/>
          </a:prstGeom>
          <a:solidFill>
            <a:srgbClr val="F24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057400" y="1261872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DESIGN &amp; ARCH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46120" y="1261872"/>
            <a:ext cx="548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Figma+Jira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057400" y="1700784"/>
            <a:ext cx="1737360" cy="3749039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057400" y="1700784"/>
            <a:ext cx="54864" cy="3749039"/>
          </a:xfrm>
          <a:prstGeom prst="rect">
            <a:avLst/>
          </a:prstGeom>
          <a:solidFill>
            <a:srgbClr val="F24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221992" y="1792224"/>
            <a:ext cx="1517904" cy="10618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D0E8FF"/>
                </a:solidFill>
              </a:rPr>
              <a:t>Dashboard wireframed.
API contracts &amp; schema
changes documented.
Epic in Jira. </a:t>
            </a:r>
            <a:r>
              <a:rPr lang="en-US" sz="1050" dirty="0">
                <a:solidFill>
                  <a:srgbClr val="D0E8FF"/>
                </a:solidFill>
              </a:rPr>
              <a:t>All</a:t>
            </a:r>
            <a:r>
              <a:rPr sz="1050" b="0" i="0" dirty="0">
                <a:solidFill>
                  <a:srgbClr val="D0E8FF"/>
                </a:solidFill>
              </a:rPr>
              <a:t> stories
broken down, pointed
&amp; added to sprint.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22192" y="3337560"/>
            <a:ext cx="137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-&gt;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977640" y="1261872"/>
            <a:ext cx="1737360" cy="438912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977640" y="1261872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DEVELOP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1261872"/>
            <a:ext cx="548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GitHub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7640" y="1700784"/>
            <a:ext cx="1737360" cy="3749039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3977640" y="1700784"/>
            <a:ext cx="54864" cy="3749039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42232" y="1792224"/>
            <a:ext cx="15179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E8FF"/>
                </a:solidFill>
              </a:rPr>
              <a:t>Branch: feat/po-inbound
-validation created.
Tests written. PR raised
with Jira + Figma links.
Peer review + CI green.
Merged to main.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42432" y="3337560"/>
            <a:ext cx="137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-&gt;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97880" y="1261872"/>
            <a:ext cx="1737360" cy="438912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897880" y="1261872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VALIDATE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086600" y="1261872"/>
            <a:ext cx="548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CI Tests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897880" y="1700784"/>
            <a:ext cx="1737360" cy="3749039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897880" y="1700784"/>
            <a:ext cx="54864" cy="3749039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062472" y="1792224"/>
            <a:ext cx="15179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E8FF"/>
                </a:solidFill>
              </a:rPr>
              <a:t>Full test suite runs
in CI. Unit, integration
&amp; E2E tests passed.
Security scan clean.
Coverage gate met.
All checks green.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62672" y="3337560"/>
            <a:ext cx="137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-&gt;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818120" y="1261872"/>
            <a:ext cx="1737360" cy="438912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818120" y="1261872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DEPLOY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06840" y="1261872"/>
            <a:ext cx="548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GH Actions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818120" y="1700784"/>
            <a:ext cx="1737360" cy="3749039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818120" y="1700784"/>
            <a:ext cx="54864" cy="3749039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82712" y="1792224"/>
            <a:ext cx="1517904" cy="12234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 dirty="0">
                <a:solidFill>
                  <a:srgbClr val="D0E8FF"/>
                </a:solidFill>
              </a:rPr>
              <a:t>Pipeline triggered on
merge. Build + test
stages passed. Staging
deployed automatically.
</a:t>
            </a:r>
            <a:r>
              <a:rPr lang="en-US" sz="1050" b="0" i="0" dirty="0">
                <a:solidFill>
                  <a:srgbClr val="D0E8FF"/>
                </a:solidFill>
              </a:rPr>
              <a:t>Risk based user </a:t>
            </a:r>
            <a:r>
              <a:rPr sz="1050" b="0" i="0" dirty="0">
                <a:solidFill>
                  <a:srgbClr val="D0E8FF"/>
                </a:solidFill>
              </a:rPr>
              <a:t>approved.
Production live.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82912" y="3337560"/>
            <a:ext cx="137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B4D8"/>
                </a:solidFill>
              </a:rPr>
              <a:t>-&gt;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738360" y="1261872"/>
            <a:ext cx="1737360" cy="438912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738360" y="1261872"/>
            <a:ext cx="11887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</a:rPr>
              <a:t>  OPERATE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27080" y="1261872"/>
            <a:ext cx="548639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1" i="0">
                <a:solidFill>
                  <a:srgbClr val="FFFFFF"/>
                </a:solidFill>
              </a:rPr>
              <a:t>Sentry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738360" y="1700784"/>
            <a:ext cx="1737360" cy="3749039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9738360" y="1700784"/>
            <a:ext cx="54864" cy="3749039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9902952" y="1792224"/>
            <a:ext cx="1517904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D0E8FF"/>
                </a:solidFill>
              </a:rPr>
              <a:t>DSN active on FE + BE.
First error captured &amp;
assigned via CODEOWNERS.
p95 latency within SLA.
Improvement item added
to next sprint backlog.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37160" y="5577840"/>
            <a:ext cx="11795760" cy="1051560"/>
          </a:xfrm>
          <a:prstGeom prst="rect">
            <a:avLst/>
          </a:prstGeom>
          <a:solidFill>
            <a:srgbClr val="0514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365760" y="562356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B4D8"/>
                </a:solidFill>
              </a:rPr>
              <a:t>Key Outcome: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65760" y="5961888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0D8FF"/>
                </a:solidFill>
              </a:rPr>
              <a:t>Full audit trail: PRD use case -&gt; Figma design + solution architecture -&gt; Jira story -&gt; GitHub PR + commit history -&gt; validated test suite -&gt; GitHub Actions deploy log -&gt; Sentry release health &amp; improvements. Any team member or auditor can reconstruct exactly what was built, why, how it was validated, and how it performs.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93992"/>
            <a:ext cx="12188952" cy="640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0040" y="137160"/>
            <a:ext cx="8229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B4D8"/>
                </a:solidFill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" y="457200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What Makes This Gold Standard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143000"/>
            <a:ext cx="11548872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20040" y="1325880"/>
            <a:ext cx="3657600" cy="402336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20040" y="132588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Business-Driven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728216"/>
            <a:ext cx="3657600" cy="18288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865376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D0E8FF"/>
                </a:solidFill>
              </a:rPr>
              <a:t>  *  PRD before any ticket or design</a:t>
            </a:r>
          </a:p>
          <a:p>
            <a:pPr algn="l"/>
            <a:r>
              <a:rPr sz="1100">
                <a:solidFill>
                  <a:srgbClr val="D0E8FF"/>
                </a:solidFill>
              </a:rPr>
              <a:t>  *  Stakeholder sign-off at the gate</a:t>
            </a:r>
          </a:p>
          <a:p>
            <a:pPr algn="l"/>
            <a:r>
              <a:rPr sz="1100">
                <a:solidFill>
                  <a:srgbClr val="D0E8FF"/>
                </a:solidFill>
              </a:rPr>
              <a:t>  *  Success metrics defined upfront</a:t>
            </a:r>
          </a:p>
          <a:p>
            <a:pPr algn="l"/>
            <a:r>
              <a:rPr sz="1100">
                <a:solidFill>
                  <a:srgbClr val="D0E8FF"/>
                </a:solidFill>
              </a:rPr>
              <a:t>  *  Epics flow directly from use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78224" y="1325880"/>
            <a:ext cx="3657600" cy="402336"/>
          </a:xfrm>
          <a:prstGeom prst="rect">
            <a:avLst/>
          </a:prstGeom>
          <a:solidFill>
            <a:srgbClr val="F24E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078224" y="132588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Design and Architecture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78224" y="1728216"/>
            <a:ext cx="3657600" cy="18288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15384" y="1865376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D0E8FF"/>
                </a:solidFill>
              </a:rPr>
              <a:t>  *  No dev work starts without Figma approval</a:t>
            </a:r>
          </a:p>
          <a:p>
            <a:pPr algn="l"/>
            <a:r>
              <a:rPr sz="1100">
                <a:solidFill>
                  <a:srgbClr val="D0E8FF"/>
                </a:solidFill>
              </a:rPr>
              <a:t>  *  API contracts &amp; schemas agreed before coding</a:t>
            </a:r>
          </a:p>
          <a:p>
            <a:pPr algn="l"/>
            <a:r>
              <a:rPr sz="1100">
                <a:solidFill>
                  <a:srgbClr val="D0E8FF"/>
                </a:solidFill>
              </a:rPr>
              <a:t>  *  Privacy, security &amp; performance designed in</a:t>
            </a:r>
          </a:p>
          <a:p>
            <a:pPr algn="l"/>
            <a:r>
              <a:rPr sz="1100">
                <a:solidFill>
                  <a:srgbClr val="D0E8FF"/>
                </a:solidFill>
              </a:rPr>
              <a:t>  *  Full traceability: story -&gt; design -&gt; code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36408" y="1325880"/>
            <a:ext cx="3657600" cy="402336"/>
          </a:xfrm>
          <a:prstGeom prst="rect">
            <a:avLst/>
          </a:prstGeom>
          <a:solidFill>
            <a:srgbClr val="6E4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836408" y="132588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Peer-Reviewed Code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36408" y="1728216"/>
            <a:ext cx="3657600" cy="18288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973568" y="1865376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D0E8FF"/>
                </a:solidFill>
              </a:rPr>
              <a:t>  *  Zero direct commits to main — ever</a:t>
            </a:r>
          </a:p>
          <a:p>
            <a:pPr algn="l"/>
            <a:r>
              <a:rPr sz="1100">
                <a:solidFill>
                  <a:srgbClr val="D0E8FF"/>
                </a:solidFill>
              </a:rPr>
              <a:t>  *  Risk-based approvals: Low / Medium / High</a:t>
            </a:r>
          </a:p>
          <a:p>
            <a:pPr algn="l"/>
            <a:r>
              <a:rPr sz="1100">
                <a:solidFill>
                  <a:srgbClr val="D0E8FF"/>
                </a:solidFill>
              </a:rPr>
              <a:t>  *  CI gates enforce quality automatically</a:t>
            </a:r>
          </a:p>
          <a:p>
            <a:pPr algn="l"/>
            <a:r>
              <a:rPr sz="1100">
                <a:solidFill>
                  <a:srgbClr val="D0E8FF"/>
                </a:solidFill>
              </a:rPr>
              <a:t>  *  Semantic branching signals intent clearly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03320"/>
            <a:ext cx="3657600" cy="402336"/>
          </a:xfrm>
          <a:prstGeom prst="rect">
            <a:avLst/>
          </a:prstGeom>
          <a:solidFill>
            <a:srgbClr val="D97B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0040" y="370332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Validated Quality Gates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105656"/>
            <a:ext cx="3657600" cy="18288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57200" y="4242816"/>
            <a:ext cx="33832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D0E8FF"/>
                </a:solidFill>
              </a:rPr>
              <a:t>  *  Unit, integration, E2E &amp; performance tests</a:t>
            </a:r>
          </a:p>
          <a:p>
            <a:pPr algn="l"/>
            <a:r>
              <a:rPr sz="1100">
                <a:solidFill>
                  <a:srgbClr val="D0E8FF"/>
                </a:solidFill>
              </a:rPr>
              <a:t>  *  Security &amp; CVE scans block high-risk merges</a:t>
            </a:r>
          </a:p>
          <a:p>
            <a:pPr algn="l"/>
            <a:r>
              <a:rPr sz="1100">
                <a:solidFill>
                  <a:srgbClr val="D0E8FF"/>
                </a:solidFill>
              </a:rPr>
              <a:t>  *  Coverage gates enforced in every CI run</a:t>
            </a:r>
          </a:p>
          <a:p>
            <a:pPr algn="l"/>
            <a:r>
              <a:rPr sz="1100">
                <a:solidFill>
                  <a:srgbClr val="D0E8FF"/>
                </a:solidFill>
              </a:rPr>
              <a:t>  *  Test evidence required before PR approval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078224" y="3703320"/>
            <a:ext cx="3657600" cy="402336"/>
          </a:xfrm>
          <a:prstGeom prst="rect">
            <a:avLst/>
          </a:prstGeom>
          <a:solidFill>
            <a:srgbClr val="2DA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078224" y="370332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Automated Deployment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078224" y="4105656"/>
            <a:ext cx="3657600" cy="18288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215384" y="4242816"/>
            <a:ext cx="338328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D0E8FF"/>
                </a:solidFill>
              </a:rPr>
              <a:t>  *  GitHub Actions pipeline on every merge</a:t>
            </a:r>
          </a:p>
          <a:p>
            <a:pPr algn="l"/>
            <a:r>
              <a:rPr sz="1100" dirty="0">
                <a:solidFill>
                  <a:srgbClr val="D0E8FF"/>
                </a:solidFill>
              </a:rPr>
              <a:t>  *  </a:t>
            </a:r>
            <a:r>
              <a:rPr lang="en-US" sz="1100" dirty="0">
                <a:solidFill>
                  <a:srgbClr val="D0E8FF"/>
                </a:solidFill>
              </a:rPr>
              <a:t>Risk Based </a:t>
            </a:r>
            <a:r>
              <a:rPr sz="1100" dirty="0">
                <a:solidFill>
                  <a:srgbClr val="D0E8FF"/>
                </a:solidFill>
              </a:rPr>
              <a:t>approval before prod</a:t>
            </a:r>
          </a:p>
          <a:p>
            <a:pPr algn="l"/>
            <a:r>
              <a:rPr sz="1100" dirty="0">
                <a:solidFill>
                  <a:srgbClr val="D0E8FF"/>
                </a:solidFill>
              </a:rPr>
              <a:t>  *  Staging gate separates test from live</a:t>
            </a:r>
          </a:p>
          <a:p>
            <a:pPr algn="l"/>
            <a:r>
              <a:rPr sz="1100" dirty="0">
                <a:solidFill>
                  <a:srgbClr val="D0E8FF"/>
                </a:solidFill>
              </a:rPr>
              <a:t>  *  Rollback workflow for emergency revert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836408" y="3703320"/>
            <a:ext cx="3657600" cy="402336"/>
          </a:xfrm>
          <a:prstGeom prst="rect">
            <a:avLst/>
          </a:prstGeom>
          <a:solidFill>
            <a:srgbClr val="362D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836408" y="370332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  Operate, Monitor &amp; Improve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36408" y="4105656"/>
            <a:ext cx="3657600" cy="1828800"/>
          </a:xfrm>
          <a:prstGeom prst="rect">
            <a:avLst/>
          </a:prstGeom>
          <a:solidFill>
            <a:srgbClr val="0F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73568" y="4242816"/>
            <a:ext cx="3383280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dirty="0">
                <a:solidFill>
                  <a:srgbClr val="D0E8FF"/>
                </a:solidFill>
              </a:rPr>
              <a:t>  *  Sentry on frontend and backend </a:t>
            </a:r>
            <a:r>
              <a:rPr lang="en-US" sz="1100" dirty="0">
                <a:solidFill>
                  <a:srgbClr val="D0E8FF"/>
                </a:solidFill>
              </a:rPr>
              <a:t>continuous monitoring</a:t>
            </a:r>
            <a:endParaRPr sz="1100" dirty="0">
              <a:solidFill>
                <a:srgbClr val="D0E8FF"/>
              </a:solidFill>
            </a:endParaRPr>
          </a:p>
          <a:p>
            <a:pPr algn="l"/>
            <a:r>
              <a:rPr sz="1100" dirty="0">
                <a:solidFill>
                  <a:srgbClr val="D0E8FF"/>
                </a:solidFill>
              </a:rPr>
              <a:t>  *  Errors traced to the exact PR that caused them</a:t>
            </a:r>
          </a:p>
          <a:p>
            <a:pPr algn="l"/>
            <a:r>
              <a:rPr sz="1100" dirty="0">
                <a:solidFill>
                  <a:srgbClr val="D0E8FF"/>
                </a:solidFill>
              </a:rPr>
              <a:t>  *  SLA-driven alerting and ownership rules</a:t>
            </a:r>
          </a:p>
          <a:p>
            <a:pPr algn="l"/>
            <a:r>
              <a:rPr sz="1100" dirty="0">
                <a:solidFill>
                  <a:srgbClr val="D0E8FF"/>
                </a:solidFill>
              </a:rPr>
              <a:t>  *  Post-incident reviews drive backlog improvements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" y="6473952"/>
            <a:ext cx="10058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556B82"/>
                </a:solidFill>
              </a:rPr>
              <a:t>Karthik Raja  |  AIT-Main  |  2025-2026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895</TotalTime>
  <Words>2478</Words>
  <Application>Microsoft Office PowerPoint</Application>
  <PresentationFormat>Custom</PresentationFormat>
  <Paragraphs>274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Karthik Raja</cp:lastModifiedBy>
  <cp:revision>3</cp:revision>
  <dcterms:created xsi:type="dcterms:W3CDTF">2013-01-27T09:14:16Z</dcterms:created>
  <dcterms:modified xsi:type="dcterms:W3CDTF">2026-04-15T17:43:53Z</dcterms:modified>
  <cp:category/>
</cp:coreProperties>
</file>